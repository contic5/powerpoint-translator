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Bebas Neue Pro" panose="020B0506020202050201" pitchFamily="34" charset="0"/>
      <p:regular r:id="rId12"/>
      <p:bold r:id="rId13"/>
      <p:italic r:id="rId14"/>
      <p:boldItalic r:id="rId15"/>
    </p:embeddedFont>
    <p:embeddedFont>
      <p:font typeface="Corbel" panose="020B0503020204020204" pitchFamily="34" charset="0"/>
      <p:regular r:id="rId16"/>
      <p:bold r:id="rId17"/>
      <p:italic r:id="rId18"/>
      <p:boldItalic r:id="rId19"/>
    </p:embeddedFont>
    <p:embeddedFont>
      <p:font typeface="Titillium" panose="00000500000000000000" pitchFamily="50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C7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customXml" Target="../customXml/item1.xml"/><Relationship Id="rId29" Type="http://schemas.openxmlformats.org/officeDocument/2006/relationships/customXml" Target="../customXml/item2.xml"/><Relationship Id="rId30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6843" y="3897426"/>
            <a:ext cx="12198843" cy="1030225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59" y="3017449"/>
            <a:ext cx="11471565" cy="739889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b="1" cap="none" spc="150" baseline="0">
                <a:solidFill>
                  <a:schemeClr val="bg1"/>
                </a:solidFill>
                <a:latin typeface="Bebas Neue Pro" panose="020B0506020202050201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20821"/>
            <a:ext cx="9144000" cy="58343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A logo with blue gears and white e&#10;&#10;Description automatically generated">
            <a:extLst>
              <a:ext uri="{FF2B5EF4-FFF2-40B4-BE49-F238E27FC236}">
                <a16:creationId xmlns:a16="http://schemas.microsoft.com/office/drawing/2014/main" id="{06D3B0A8-3474-6382-13B4-E596CC87F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433" y="313942"/>
            <a:ext cx="2146987" cy="1030225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4BB0AB-7241-3537-C36E-2A8529B97B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5252541"/>
            <a:ext cx="9144000" cy="527050"/>
          </a:xfrm>
        </p:spPr>
        <p:txBody>
          <a:bodyPr>
            <a:noAutofit/>
          </a:bodyPr>
          <a:lstStyle>
            <a:lvl1pPr marL="182880" indent="-182880" algn="ctr"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11480" indent="-182880" algn="ctr"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2pPr>
            <a:lvl3pPr marL="640080" indent="-182880" algn="ctr"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3pPr>
            <a:lvl4pPr marL="868680" indent="-182880" algn="ctr"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4pPr>
            <a:lvl5pPr marL="1097280" indent="-182880" algn="ctr"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06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959E0B-F3F8-9B4B-B610-E52AF50CC82A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>
                <a:solidFill>
                  <a:srgbClr val="0095C7"/>
                </a:solidFill>
                <a:latin typeface="Bebas Neue Pro" panose="020B0506020202050201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28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latin typeface="Titillium" panose="00000500000000000000" pitchFamily="50" charset="0"/>
              </a:defRPr>
            </a:lvl1pPr>
            <a:lvl2pPr marL="4114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latin typeface="Titillium" panose="00000500000000000000" pitchFamily="50" charset="0"/>
              </a:defRPr>
            </a:lvl2pPr>
            <a:lvl3pPr marL="6400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latin typeface="Titillium" panose="00000500000000000000" pitchFamily="50" charset="0"/>
              </a:defRPr>
            </a:lvl3pPr>
            <a:lvl4pPr marL="8686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latin typeface="Titillium" panose="00000500000000000000" pitchFamily="50" charset="0"/>
              </a:defRPr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latin typeface="Titillium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9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Bebas Neue Pro" panose="020B0506020202050201" pitchFamily="34" charset="0"/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AA683-E958-4164-9BFE-A984CB6C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29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84237A-18A5-8D96-62EE-EACAE900ADB0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 marL="1828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/>
            </a:lvl1pPr>
            <a:lvl2pPr marL="4114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2pPr>
            <a:lvl3pPr marL="6400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3pPr>
            <a:lvl4pPr marL="8686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spcBef>
                <a:spcPts val="400"/>
              </a:spcBef>
              <a:spcAft>
                <a:spcPts val="400"/>
              </a:spcAft>
              <a:defRPr sz="1600"/>
            </a:lvl1pPr>
            <a:lvl2pPr>
              <a:spcBef>
                <a:spcPts val="400"/>
              </a:spcBef>
              <a:spcAft>
                <a:spcPts val="400"/>
              </a:spcAft>
              <a:defRPr sz="1500"/>
            </a:lvl2pPr>
            <a:lvl3pPr>
              <a:spcBef>
                <a:spcPts val="400"/>
              </a:spcBef>
              <a:spcAft>
                <a:spcPts val="400"/>
              </a:spcAft>
              <a:defRPr sz="1500"/>
            </a:lvl3pPr>
            <a:lvl4pPr>
              <a:spcBef>
                <a:spcPts val="400"/>
              </a:spcBef>
              <a:spcAft>
                <a:spcPts val="400"/>
              </a:spcAft>
              <a:defRPr sz="1500"/>
            </a:lvl4pPr>
            <a:lvl5pPr>
              <a:spcBef>
                <a:spcPts val="400"/>
              </a:spcBef>
              <a:spcAft>
                <a:spcPts val="400"/>
              </a:spcAft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8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15046A-A911-078F-5E67-E3A9B452049F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19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>
            <a:normAutofit/>
          </a:bodyPr>
          <a:lstStyle>
            <a:lvl1pPr marL="1828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/>
            </a:lvl1pPr>
            <a:lvl2pPr marL="4114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2pPr>
            <a:lvl3pPr marL="6400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3pPr>
            <a:lvl4pPr marL="8686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19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 marL="1828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/>
            </a:lvl1pPr>
            <a:lvl2pPr marL="4114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2pPr>
            <a:lvl3pPr marL="6400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3pPr>
            <a:lvl4pPr marL="8686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0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D0F713-B382-A7D4-A46E-7C946250F578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13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82B1B-0E26-85A9-AF5D-B6B1B9838942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CFB5DD-15F5-A326-B3D5-DB6CB843258D}"/>
              </a:ext>
            </a:extLst>
          </p:cNvPr>
          <p:cNvSpPr/>
          <p:nvPr userDrawn="1"/>
        </p:nvSpPr>
        <p:spPr>
          <a:xfrm>
            <a:off x="0" y="2085263"/>
            <a:ext cx="7333488" cy="4184382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 marL="182880" indent="-18288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1pPr>
            <a:lvl2pPr marL="411480" indent="-18288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2pPr>
            <a:lvl3pPr marL="640080" indent="-18288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3pPr>
            <a:lvl4pPr marL="868680" indent="-18288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38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C0E9AE-0307-2977-F542-03D905CF00BC}"/>
              </a:ext>
            </a:extLst>
          </p:cNvPr>
          <p:cNvSpPr/>
          <p:nvPr userDrawn="1"/>
        </p:nvSpPr>
        <p:spPr>
          <a:xfrm>
            <a:off x="0" y="2211494"/>
            <a:ext cx="5329382" cy="464650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1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96B7C0-2561-E3FB-7075-4DC1036FF93B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 marL="1828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114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2pPr>
            <a:lvl3pPr marL="6400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3pPr>
            <a:lvl4pPr marL="8686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710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DFE0E4-DC3B-04C5-344A-5BE6EE8F2226}"/>
              </a:ext>
            </a:extLst>
          </p:cNvPr>
          <p:cNvSpPr/>
          <p:nvPr userDrawn="1"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>
            <a:normAutofit/>
          </a:bodyPr>
          <a:lstStyle>
            <a:lvl1pPr algn="ctr">
              <a:defRPr sz="3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>
            <a:lvl1pPr marL="1828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114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686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97280" indent="-18288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5196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22854"/>
            <a:ext cx="12192000" cy="435146"/>
          </a:xfrm>
          <a:prstGeom prst="rect">
            <a:avLst/>
          </a:prstGeom>
          <a:solidFill>
            <a:srgbClr val="0095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fld id="{D5265FCE-4EA8-4CB2-BD29-8D67B545BCB6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E8FAA683-E958-4164-9BFE-A984CB6C28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57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3500" b="1" kern="1200" cap="none" baseline="0">
          <a:solidFill>
            <a:srgbClr val="0095C7"/>
          </a:solidFill>
          <a:latin typeface="Bebas Neue Pro" panose="020B0506020202050201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bg1"/>
          </a:solidFill>
          <a:latin typeface="Titillium" panose="00000500000000000000" pitchFamily="50" charset="0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bg1"/>
          </a:solidFill>
          <a:latin typeface="Titillium" panose="00000500000000000000" pitchFamily="50" charset="0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bg1"/>
          </a:solidFill>
          <a:latin typeface="Titillium" panose="00000500000000000000" pitchFamily="50" charset="0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bg1"/>
          </a:solidFill>
          <a:latin typeface="Titillium" panose="00000500000000000000" pitchFamily="50" charset="0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500" kern="1200">
          <a:solidFill>
            <a:schemeClr val="bg1"/>
          </a:solidFill>
          <a:latin typeface="Titillium" panose="00000500000000000000" pitchFamily="50" charset="0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F010-6419-B06A-C4BF-FB72FA9A0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Planificación de objetivos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DFF1E-6F77-FB15-4396-7A52C15A5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Planificación de objetivos a corto y largo plazo</a:t>
            </a:r>
          </a:p>
        </p:txBody>
      </p:sp>
      <p:pic>
        <p:nvPicPr>
          <p:cNvPr id="1026" name="Picture 2" descr="Aspiration">
            <a:extLst>
              <a:ext uri="{FF2B5EF4-FFF2-40B4-BE49-F238E27FC236}">
                <a16:creationId xmlns:a16="http://schemas.microsoft.com/office/drawing/2014/main" id="{B31F16BC-2ACF-A6AE-9E3B-00DEED917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978" y="5067738"/>
            <a:ext cx="1327322" cy="134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84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F5455A-8AE2-E047-E4BE-B72C2EB1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t>Objetivos de aprendizaje para esta presentación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05D9BF-6B0D-8EB0-11FB-7D00BB4AD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>
            <a:normAutofit/>
          </a:bodyPr>
          <a:lstStyle/>
          <a:p>
            <a:r>
              <a:t>Esta presentación fue diseñada para ayudarle a aprender: </a:t>
            </a:r>
          </a:p>
          <a:p>
            <a:r>
              <a:t>El significado de un plan de objetivos.</a:t>
            </a:r>
          </a:p>
          <a:p>
            <a:r>
              <a:t>La diferencia entre objetivos a largo y corto plazo</a:t>
            </a:r>
          </a:p>
          <a:p>
            <a:r>
              <a:t>Cómo establecer tus propios objetivos</a:t>
            </a:r>
          </a:p>
        </p:txBody>
      </p:sp>
      <p:pic>
        <p:nvPicPr>
          <p:cNvPr id="2050" name="Picture 2" descr="Goal planning | Sampradaa Investments | Investments that will make you grow.">
            <a:extLst>
              <a:ext uri="{FF2B5EF4-FFF2-40B4-BE49-F238E27FC236}">
                <a16:creationId xmlns:a16="http://schemas.microsoft.com/office/drawing/2014/main" id="{14EFC583-829B-5F8A-0C6D-A51514332B9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31776" y="2011680"/>
            <a:ext cx="4754880" cy="383956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49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5AD1-D921-E215-36D8-DE75450E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t>¿Qué son las metas?</a:t>
            </a:r>
          </a:p>
        </p:txBody>
      </p:sp>
      <p:pic>
        <p:nvPicPr>
          <p:cNvPr id="3076" name="Picture 4" descr="The Word IMPossible Means More Than You Think! - Mark Treager">
            <a:extLst>
              <a:ext uri="{FF2B5EF4-FFF2-40B4-BE49-F238E27FC236}">
                <a16:creationId xmlns:a16="http://schemas.microsoft.com/office/drawing/2014/main" id="{B611F001-3218-4E30-C0D6-6E7267EA08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7008" y="2454381"/>
            <a:ext cx="6126480" cy="344614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03BD-DF39-0B57-D77D-95376B5D4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/>
          <a:p>
            <a:r>
              <a:t>Las metas son habilidades o un trabajo por el cual alguien está trabajando y aspira a lograr.</a:t>
            </a:r>
          </a:p>
          <a:p>
            <a:r>
              <a:t>Puede ser personal, profesional o académico.</a:t>
            </a:r>
          </a:p>
          <a:p>
            <a:r>
              <a:t>Puede ser a corto o largo plazo</a:t>
            </a:r>
          </a:p>
        </p:txBody>
      </p:sp>
    </p:spTree>
    <p:extLst>
      <p:ext uri="{BB962C8B-B14F-4D97-AF65-F5344CB8AC3E}">
        <p14:creationId xmlns:p14="http://schemas.microsoft.com/office/powerpoint/2010/main" val="324608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F95-0F20-8A1A-496E-F08EC0A64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Metas a corto plazo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47BA8-FE70-E8DA-EC6C-26AFB7D8C6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Menos de 1 año</a:t>
            </a:r>
          </a:p>
          <a:p>
            <a:r>
              <a:t>Es importante para ti ahora</a:t>
            </a:r>
          </a:p>
          <a:p>
            <a:r>
              <a:t>Específico y detallado</a:t>
            </a:r>
          </a:p>
          <a:p>
            <a:r>
              <a:t>Fácilmente ajustable</a:t>
            </a:r>
          </a:p>
          <a:p>
            <a:r>
              <a:t>Ejemplos </a:t>
            </a:r>
          </a:p>
          <a:p>
            <a:r>
              <a:t>Completar un proyecto de trabajo </a:t>
            </a:r>
          </a:p>
          <a:p>
            <a:r>
              <a:t>Ahorre dinero para una computadora</a:t>
            </a:r>
          </a:p>
        </p:txBody>
      </p:sp>
      <p:pic>
        <p:nvPicPr>
          <p:cNvPr id="4100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20E5EAA4-3AB8-2F03-BD22-D8337DF21C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440" y="1792936"/>
            <a:ext cx="4117557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60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A4C9-A547-57BC-7E69-0752A79E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metas a corto plazo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47F2-E52A-EB0A-59F5-7A9C3BD9FB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Ejemplo 1</a:t>
            </a:r>
          </a:p>
          <a:p>
            <a:r>
              <a:t>A Johnny le gustaría aumentar el número de palabras por minuto mientras escribe. </a:t>
            </a:r>
          </a:p>
          <a:p>
            <a:r>
              <a:t>Actualmente escribe 14 palabras por minuto.</a:t>
            </a:r>
          </a:p>
          <a:p>
            <a:r>
              <a:t>Le gustaría escribir 26 palabras por minuto.</a:t>
            </a:r>
          </a:p>
          <a:p>
            <a:r>
              <a:t>Decide practicar 10 minutos al día durante la próxima semana.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79546-71B5-05B5-EF3D-819564149B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Ejemplo 2</a:t>
            </a:r>
          </a:p>
          <a:p>
            <a:r>
              <a:t>A Winston le gustaría aumentar la cantidad de camisetas que puede quitar la etiqueta por hora.</a:t>
            </a:r>
          </a:p>
          <a:p>
            <a:r>
              <a:t>Actualmente puede desmarcar 60 camisetas en una hora.</a:t>
            </a:r>
          </a:p>
          <a:p>
            <a:r>
              <a:t>Le gustaría poder desmarcar 120 camisetas en una hora</a:t>
            </a:r>
          </a:p>
          <a:p>
            <a:r>
              <a:t>Planea seguir su progreso durante las próximas 8 semanas y practicar sus técnicas de corte.</a:t>
            </a:r>
          </a:p>
        </p:txBody>
      </p:sp>
    </p:spTree>
    <p:extLst>
      <p:ext uri="{BB962C8B-B14F-4D97-AF65-F5344CB8AC3E}">
        <p14:creationId xmlns:p14="http://schemas.microsoft.com/office/powerpoint/2010/main" val="333144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6784-568F-7AD0-A6CA-09B3972F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Metas a largo plazo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FDC52-2F1E-10EF-6B75-2FEA0E1552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Más de un año para completar </a:t>
            </a:r>
          </a:p>
          <a:p>
            <a:r>
              <a:t>Planes y aspiraciones futuras</a:t>
            </a:r>
          </a:p>
          <a:p>
            <a:r>
              <a:t>Más amplio y más general</a:t>
            </a:r>
          </a:p>
          <a:p>
            <a:r>
              <a:t>Requiere planificación estratégica y tiempo para completar</a:t>
            </a:r>
          </a:p>
          <a:p>
            <a:r>
              <a:t>Ejemplos </a:t>
            </a:r>
          </a:p>
          <a:p>
            <a:r>
              <a:t>obtener un título</a:t>
            </a:r>
          </a:p>
          <a:p>
            <a:r>
              <a:t>comprar una casa</a:t>
            </a:r>
          </a:p>
        </p:txBody>
      </p:sp>
      <p:pic>
        <p:nvPicPr>
          <p:cNvPr id="5122" name="Picture 2" descr="Making long terms plans become reality with short term goals">
            <a:extLst>
              <a:ext uri="{FF2B5EF4-FFF2-40B4-BE49-F238E27FC236}">
                <a16:creationId xmlns:a16="http://schemas.microsoft.com/office/drawing/2014/main" id="{4FD4610E-738A-96D8-7A2A-E188A6C54F7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492" y="1792936"/>
            <a:ext cx="4117557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86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883E-73D8-D7F8-198D-D59EBAC6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9E1-3F65-1005-2EC4-BA95372D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metas a largo plazo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9486F-D422-068E-8D18-D15983AFBC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Ejemplo 1</a:t>
            </a:r>
          </a:p>
          <a:p>
            <a:r>
              <a:t>Michael quiere cambiar su carrera profesional y trabajar en el campo de TI.</a:t>
            </a:r>
          </a:p>
          <a:p>
            <a:r>
              <a:t>Él sabe que para conseguir el tipo de trabajo que desea, necesitará volver a la escuela para obtener un título de asociado.</a:t>
            </a:r>
          </a:p>
          <a:p>
            <a:r>
              <a:t>Michael pasa el fin de semana mirando programas de TI en universidades y se prepara para postularse a algunos</a:t>
            </a:r>
          </a:p>
          <a:p>
            <a:r>
              <a:t>La meta de Michael puede tomar más de 2 años y requerirá mucha programación y planificación, además de estudiar.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BD02A-97F2-1427-8DCA-D724F8C82D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Ejemplo 2</a:t>
            </a:r>
          </a:p>
          <a:p>
            <a:r>
              <a:t>Sarah quiere tener su propia boutique de ropa</a:t>
            </a:r>
          </a:p>
          <a:p>
            <a:r>
              <a:t>Actualmente trabaja en una tienda de ropa de su pueblo para adquirir experiencia.</a:t>
            </a:r>
          </a:p>
          <a:p>
            <a:r>
              <a:t>Sarah siempre hace preguntas y busca oportunidades para aprender a administrar una tienda.</a:t>
            </a:r>
          </a:p>
          <a:p>
            <a:r>
              <a:t>Sarah necesitará adquirir algo de experiencia en gestión y ahorrar dinero para una nueva empresa. </a:t>
            </a:r>
          </a:p>
          <a:p>
            <a:r>
              <a:t>Su objetivo puede tardar unos 4 años.</a:t>
            </a:r>
          </a:p>
        </p:txBody>
      </p:sp>
    </p:spTree>
    <p:extLst>
      <p:ext uri="{BB962C8B-B14F-4D97-AF65-F5344CB8AC3E}">
        <p14:creationId xmlns:p14="http://schemas.microsoft.com/office/powerpoint/2010/main" val="280223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098A-67D1-FEA5-237C-E9EEED294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t>Pregunta de discusión n.° 1</a:t>
            </a:r>
          </a:p>
        </p:txBody>
      </p:sp>
      <p:pic>
        <p:nvPicPr>
          <p:cNvPr id="6146" name="Picture 2" descr="Four Types of Group Work Activities to Engage Students">
            <a:extLst>
              <a:ext uri="{FF2B5EF4-FFF2-40B4-BE49-F238E27FC236}">
                <a16:creationId xmlns:a16="http://schemas.microsoft.com/office/drawing/2014/main" id="{67EACF6C-2E7D-47D5-9809-CC397A97E3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4981"/>
          <a:stretch>
            <a:fillRect/>
          </a:stretch>
        </p:blipFill>
        <p:spPr bwMode="auto">
          <a:xfrm>
            <a:off x="1207008" y="2120054"/>
            <a:ext cx="6126480" cy="411480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8216A-8947-47E6-88F2-02DB1C75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/>
          <a:p>
            <a:r>
              <a:t>¿Has tenido un trabajo antes?</a:t>
            </a:r>
          </a:p>
          <a:p>
            <a:r>
              <a:t>Si es así, ¿qué has hecho antes de Spectrum Works?</a:t>
            </a:r>
          </a:p>
        </p:txBody>
      </p:sp>
    </p:spTree>
    <p:extLst>
      <p:ext uri="{BB962C8B-B14F-4D97-AF65-F5344CB8AC3E}">
        <p14:creationId xmlns:p14="http://schemas.microsoft.com/office/powerpoint/2010/main" val="297019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A054-3E77-7E92-75AD-950AAD7D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DB4F-C73B-812D-1038-B6080E88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t>Pregunta de discusión n.° 2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2E0A162-0A5B-73AD-CE7D-3A859F1E5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850"/>
          <a:stretch>
            <a:fillRect/>
          </a:stretch>
        </p:blipFill>
        <p:spPr bwMode="auto">
          <a:xfrm>
            <a:off x="1280160" y="2211494"/>
            <a:ext cx="6126480" cy="393192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5" name="Text Placeholder 3">
            <a:extLst>
              <a:ext uri="{FF2B5EF4-FFF2-40B4-BE49-F238E27FC236}">
                <a16:creationId xmlns:a16="http://schemas.microsoft.com/office/drawing/2014/main" id="{55718EC9-702B-9FD4-BB1C-C2AD6525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/>
          <a:lstStyle/>
          <a:p>
            <a:r>
              <a:t>¿Qué nuevas habilidades quieres aprender?</a:t>
            </a:r>
          </a:p>
          <a:p>
            <a:r>
              <a:t>¿Cuáles son algunas de las habilidades que tienes y quieres mejorar?</a:t>
            </a:r>
          </a:p>
        </p:txBody>
      </p:sp>
    </p:spTree>
    <p:extLst>
      <p:ext uri="{BB962C8B-B14F-4D97-AF65-F5344CB8AC3E}">
        <p14:creationId xmlns:p14="http://schemas.microsoft.com/office/powerpoint/2010/main" val="1202338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976D-1124-A7F0-8606-CC5C3DFE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E780-38E8-AD0E-FC4D-23BAC1F7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t>Pregunta de discusión n.° 3</a:t>
            </a:r>
          </a:p>
        </p:txBody>
      </p:sp>
      <p:pic>
        <p:nvPicPr>
          <p:cNvPr id="8194" name="Picture 2" descr="A person holding a tablet&#10;&#10;AI-generated content may be incorrect.">
            <a:extLst>
              <a:ext uri="{FF2B5EF4-FFF2-40B4-BE49-F238E27FC236}">
                <a16:creationId xmlns:a16="http://schemas.microsoft.com/office/drawing/2014/main" id="{E840E5C2-9FDD-C22A-12F8-0B2A00429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"/>
          <a:stretch>
            <a:fillRect/>
          </a:stretch>
        </p:blipFill>
        <p:spPr bwMode="auto">
          <a:xfrm>
            <a:off x="1280160" y="2211494"/>
            <a:ext cx="6126480" cy="393192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Text Placeholder 3">
            <a:extLst>
              <a:ext uri="{FF2B5EF4-FFF2-40B4-BE49-F238E27FC236}">
                <a16:creationId xmlns:a16="http://schemas.microsoft.com/office/drawing/2014/main" id="{727BB45B-3538-AA52-AB0E-47D0F9BD0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/>
          <a:lstStyle/>
          <a:p>
            <a:r>
              <a:t>¿Cuál es el trabajo de tus sueños?</a:t>
            </a:r>
          </a:p>
          <a:p>
            <a:r>
              <a:t>¿Cómo crees que puedes hacer para alcanzar ese objetivo?</a:t>
            </a:r>
          </a:p>
        </p:txBody>
      </p:sp>
    </p:spTree>
    <p:extLst>
      <p:ext uri="{BB962C8B-B14F-4D97-AF65-F5344CB8AC3E}">
        <p14:creationId xmlns:p14="http://schemas.microsoft.com/office/powerpoint/2010/main" val="3868780708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7696A8D8-2066-4A5F-BDF2-4299FD56F41E}" vid="{C11EB8F2-7F23-428F-8CE8-97DB00F4E11E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9385CA13CA0847BC235358280CBD4F" ma:contentTypeVersion="13" ma:contentTypeDescription="Create a new document." ma:contentTypeScope="" ma:versionID="cb4f512378942e17d3a65ad4ed0f67f0">
  <xsd:schema xmlns:xsd="http://www.w3.org/2001/XMLSchema" xmlns:xs="http://www.w3.org/2001/XMLSchema" xmlns:p="http://schemas.microsoft.com/office/2006/metadata/properties" xmlns:ns2="c824fd6c-ae6b-4a5b-ba25-fbed6ec92401" xmlns:ns3="434e52e7-7b07-47eb-bc54-246a3f35ee65" targetNamespace="http://schemas.microsoft.com/office/2006/metadata/properties" ma:root="true" ma:fieldsID="c71cf5d8e4c24fd844dcfa1fd5f0c5c5" ns2:_="" ns3:_="">
    <xsd:import namespace="c824fd6c-ae6b-4a5b-ba25-fbed6ec92401"/>
    <xsd:import namespace="434e52e7-7b07-47eb-bc54-246a3f35e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fd6c-ae6b-4a5b-ba25-fbed6ec924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4e52e7-7b07-47eb-bc54-246a3f35e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E06017-6337-46FC-8C85-E9CE77761494}"/>
</file>

<file path=customXml/itemProps2.xml><?xml version="1.0" encoding="utf-8"?>
<ds:datastoreItem xmlns:ds="http://schemas.openxmlformats.org/officeDocument/2006/customXml" ds:itemID="{0F07DD41-EFC4-4F25-A51C-141EC7E3352B}"/>
</file>

<file path=customXml/itemProps3.xml><?xml version="1.0" encoding="utf-8"?>
<ds:datastoreItem xmlns:ds="http://schemas.openxmlformats.org/officeDocument/2006/customXml" ds:itemID="{91FAA5A6-2FEE-415F-AB69-13B2EF4CD66A}"/>
</file>

<file path=docProps/app.xml><?xml version="1.0" encoding="utf-8"?>
<Properties xmlns="http://schemas.openxmlformats.org/officeDocument/2006/extended-properties" xmlns:vt="http://schemas.openxmlformats.org/officeDocument/2006/docPropsVTypes">
  <Template>Spectrum Works brand powerpoint template - updated</Template>
  <TotalTime>75</TotalTime>
  <Words>453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Titillium</vt:lpstr>
      <vt:lpstr>Bebas Neue Pro</vt:lpstr>
      <vt:lpstr>Wingdings</vt:lpstr>
      <vt:lpstr>Corbel</vt:lpstr>
      <vt:lpstr>Banded</vt:lpstr>
      <vt:lpstr>Goal Planning</vt:lpstr>
      <vt:lpstr>Learning Goals For This Presentation</vt:lpstr>
      <vt:lpstr>What Are Goals?</vt:lpstr>
      <vt:lpstr>Short-Term Goals</vt:lpstr>
      <vt:lpstr>Example of Short-Term Goals</vt:lpstr>
      <vt:lpstr>Long-Term Goals</vt:lpstr>
      <vt:lpstr>Example of Long-Term Goals</vt:lpstr>
      <vt:lpstr>Discussion Question #1</vt:lpstr>
      <vt:lpstr>Discussion Question #2</vt:lpstr>
      <vt:lpstr>Discussion Question #3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Jailene Ortez</dc:creator>
  <cp:lastModifiedBy>Jailene Ortez</cp:lastModifiedBy>
  <cp:revision>1</cp:revision>
  <dcterms:created xsi:type="dcterms:W3CDTF">2025-09-23T17:51:04Z</dcterms:created>
  <dcterms:modified xsi:type="dcterms:W3CDTF">2025-09-23T19:06:17Z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0x010100F19385CA13CA0847BC235358280CBD4F</vt:lpwstr>
  </property>
</Properties>
</file>