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4"/>
  </p:sldMasterIdLst>
  <p:notesMasterIdLst>
    <p:notesMasterId r:id="rId15"/>
  </p:notesMasterIdLst>
  <p:sldIdLst>
    <p:sldId id="315" r:id="rId5"/>
    <p:sldId id="311" r:id="rId6"/>
    <p:sldId id="318" r:id="rId7"/>
    <p:sldId id="312" r:id="rId8"/>
    <p:sldId id="316" r:id="rId9"/>
    <p:sldId id="313" r:id="rId10"/>
    <p:sldId id="317" r:id="rId11"/>
    <p:sldId id="320" r:id="rId12"/>
    <p:sldId id="319" r:id="rId13"/>
    <p:sldId id="31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7" autoAdjust="0"/>
  </p:normalViewPr>
  <p:slideViewPr>
    <p:cSldViewPr snapToGrid="0">
      <p:cViewPr varScale="1">
        <p:scale>
          <a:sx n="59" d="100"/>
          <a:sy n="59" d="100"/>
        </p:scale>
        <p:origin x="960" y="5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Citing informs readers and listeners that information you are providing came from another resource and involves writing down information about that specific source.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Citations provide evidence to support your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presenting, tell your audience when your information is from another resource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How to do so</a:t>
            </a:r>
          </a:p>
          <a:p>
            <a:pPr lvl="1"/>
            <a:r>
              <a:rPr lang="en-US" dirty="0"/>
              <a:t>According to an article by the Associated Press.</a:t>
            </a:r>
          </a:p>
          <a:p>
            <a:pPr lvl="1"/>
            <a:r>
              <a:rPr lang="en-US" dirty="0"/>
              <a:t>New Jersey’s Motor Vehicle Commission requires that…</a:t>
            </a:r>
          </a:p>
          <a:p>
            <a:pPr lvl="1"/>
            <a:r>
              <a:rPr lang="en-US" dirty="0"/>
              <a:t>During an interview with CBS on August 24, 2021, Ann Marie Sullivan noted [3]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10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Paraphrasing involves rearranging someone else’s words in a new manner that keeps the meaning while acknowledging the original source.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compared to directly quoting, paraphrasing better displays that you understand information that you read.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3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original text by reading it thoroughly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main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your own version of roughly what the text says without looking at the original 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your text so that it differs from the original text and matches with your own writing style.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Most importantly, make sure to cite where you found the information.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Your writing will very likely be worse than the original source, but it will still be sufficient. In addition, paraphrasing will help you improve more as a writer than excessively using direct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41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direct quote involves using the exact words that someone else wrote or that you wrote [5].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6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Paraphrasing is usually preferred, but there are times for direct quotes.</a:t>
            </a:r>
          </a:p>
          <a:p>
            <a:endParaRPr lang="en-US" dirty="0"/>
          </a:p>
          <a:p>
            <a:r>
              <a:rPr lang="en-US" dirty="0"/>
              <a:t>Cases for using direct quotes:</a:t>
            </a:r>
          </a:p>
          <a:p>
            <a:pPr lvl="1"/>
            <a:r>
              <a:rPr lang="en-US" dirty="0"/>
              <a:t>When you refer to a specific definition.</a:t>
            </a:r>
          </a:p>
          <a:p>
            <a:pPr lvl="1"/>
            <a:r>
              <a:rPr lang="en-US" dirty="0"/>
              <a:t>When you want to write down particularly well stated points.</a:t>
            </a:r>
          </a:p>
          <a:p>
            <a:pPr lvl="1"/>
            <a:r>
              <a:rPr lang="en-US" dirty="0"/>
              <a:t>When you are writing about an exact statement said or written by an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740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6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Graphic 12">
            <a:extLst>
              <a:ext uri="{FF2B5EF4-FFF2-40B4-BE49-F238E27FC236}">
                <a16:creationId xmlns:a16="http://schemas.microsoft.com/office/drawing/2014/main" id="{2F27C2B9-E97F-783B-DA7E-7D32CE80C925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972792AB-6441-FAD4-4BA6-3128B4F85A43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5">
            <a:extLst>
              <a:ext uri="{FF2B5EF4-FFF2-40B4-BE49-F238E27FC236}">
                <a16:creationId xmlns:a16="http://schemas.microsoft.com/office/drawing/2014/main" id="{4CCDEFE6-7154-B286-C101-CE9CA881311E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E0961819-F24A-D9AB-8BFF-4D4CB469DF3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23ED3E2F-79B1-E36D-D174-127296B6898F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23">
            <a:extLst>
              <a:ext uri="{FF2B5EF4-FFF2-40B4-BE49-F238E27FC236}">
                <a16:creationId xmlns:a16="http://schemas.microsoft.com/office/drawing/2014/main" id="{919EE92C-7719-F973-A6F9-66898686F6B8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0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Graphic 15">
            <a:extLst>
              <a:ext uri="{FF2B5EF4-FFF2-40B4-BE49-F238E27FC236}">
                <a16:creationId xmlns:a16="http://schemas.microsoft.com/office/drawing/2014/main" id="{15C4816A-241A-060E-CE4D-6477C1C7ECF9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6">
            <a:extLst>
              <a:ext uri="{FF2B5EF4-FFF2-40B4-BE49-F238E27FC236}">
                <a16:creationId xmlns:a16="http://schemas.microsoft.com/office/drawing/2014/main" id="{7DA61074-EB53-BB6D-9CCD-F5C5005FF5AC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4">
            <a:extLst>
              <a:ext uri="{FF2B5EF4-FFF2-40B4-BE49-F238E27FC236}">
                <a16:creationId xmlns:a16="http://schemas.microsoft.com/office/drawing/2014/main" id="{44867C8D-B0D1-C8F1-7297-6B24E19FC4A5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7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02B8824C-667E-1ABE-860D-7447D2A0E26D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6">
            <a:extLst>
              <a:ext uri="{FF2B5EF4-FFF2-40B4-BE49-F238E27FC236}">
                <a16:creationId xmlns:a16="http://schemas.microsoft.com/office/drawing/2014/main" id="{757FA551-FB93-6887-6F5D-BE5BAFBC5FB7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4">
            <a:extLst>
              <a:ext uri="{FF2B5EF4-FFF2-40B4-BE49-F238E27FC236}">
                <a16:creationId xmlns:a16="http://schemas.microsoft.com/office/drawing/2014/main" id="{D0D455A6-0880-9806-52E7-F94E518B218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5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7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18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2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1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1323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7609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95123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9519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3143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1455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3254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49100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Relationship Id="rId2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84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717" r:id="rId18"/>
    <p:sldLayoutId id="2147483710" r:id="rId19"/>
    <p:sldLayoutId id="2147483713" r:id="rId20"/>
    <p:sldLayoutId id="2147483714" r:id="rId21"/>
    <p:sldLayoutId id="2147483715" r:id="rId2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oiM0x0ApVL8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6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lagiarism.org/article/what-is-citation" TargetMode="External"/><Relationship Id="rId3" Type="http://schemas.openxmlformats.org/officeDocument/2006/relationships/hyperlink" Target="https://www.usm.edu/speaking-center/citingsourcesinaspeech.pdf" TargetMode="External"/><Relationship Id="rId4" Type="http://schemas.openxmlformats.org/officeDocument/2006/relationships/hyperlink" Target="https://www.cbsnews.com/newyork/news/autism-spectrum-works-nonprofit-pop-up-stores-american-dream/" TargetMode="External"/><Relationship Id="rId5" Type="http://schemas.openxmlformats.org/officeDocument/2006/relationships/hyperlink" Target="https://lo.unisa.edu.au/mod/book/view.php?id=252144" TargetMode="External"/><Relationship Id="rId6" Type="http://schemas.openxmlformats.org/officeDocument/2006/relationships/hyperlink" Target="https://www.monash.edu/learnhq/write-like-a-pro/acknowledge-sources/paraphrase-summarise-and-quote-well/paraphrase" TargetMode="External"/><Relationship Id="rId7" Type="http://schemas.openxmlformats.org/officeDocument/2006/relationships/hyperlink" Target="https://apastyle.apa.org/style-grammar-guidelines/citations/quot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F823-E183-BA1B-1556-E5FF2ECE3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Parafrasear y citar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0FDA5-16CA-F72F-8E99-C315ADA37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 CJ Conti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CF1C9-2B33-A502-A40B-E230FCBB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5/1/2023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470F-4F53-4CCF-997D-B61D453C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08B4-D2B8-0732-A56D-D24B67E8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0025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59CD-D3D0-E550-08CB-3A1851F6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citing [1]?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4D06-7C85-ECA0-56DA-3E76E682E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Citing informs readers where your information came from.</a:t>
            </a:r>
          </a:p>
          <a:p>
            <a:r>
              <a:rPr lang="en-US" dirty="0"/>
              <a:t>Stating your information is from another source</a:t>
            </a:r>
          </a:p>
          <a:p>
            <a:r>
              <a:rPr lang="en-US" dirty="0"/>
              <a:t>Stating where your information is from</a:t>
            </a:r>
          </a:p>
          <a:p>
            <a:endParaRPr lang="en-US" dirty="0"/>
          </a:p>
          <a:p>
            <a:r>
              <a:rPr lang="en-US" dirty="0"/>
              <a:t>Citations provide evidence to support your arguments.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3FE2-C5B4-1301-CA1D-C7D17462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639C6-2F89-4E91-911F-1DBD7DF426EE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6F0EE-0C0D-DEF0-CE7D-80E22ACA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D72E-1F5A-3FC3-6B6D-7858402E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65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EFFF-08E1-810C-E30F-815502C6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Citing while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42920-AA20-4AF4-83EF-AE392066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when information is from elsewhere [2].</a:t>
            </a:r>
          </a:p>
          <a:p>
            <a:r>
              <a:rPr lang="en-US" dirty="0"/>
              <a:t>How to do so</a:t>
            </a:r>
          </a:p>
          <a:p>
            <a:pPr lvl="1"/>
            <a:r>
              <a:rPr lang="en-US" dirty="0"/>
              <a:t>According to an article by the Associated Press.</a:t>
            </a:r>
          </a:p>
          <a:p>
            <a:pPr lvl="1"/>
            <a:r>
              <a:rPr lang="en-US" dirty="0"/>
              <a:t>New Jersey’s Motor Vehicle Commission requires that…</a:t>
            </a:r>
          </a:p>
          <a:p>
            <a:pPr lvl="1"/>
            <a:r>
              <a:rPr lang="en-US" dirty="0"/>
              <a:t>During an interview with CBS on August 24, 2021, Ann Marie Sullivan noted [3]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F4CDE-9F7F-187D-295C-7A757DD0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998F-301C-4895-99C2-1BC2DC6D52A6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4012-81EE-35F8-3C5A-D6FF4496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7CC8-E3A6-2674-BE9F-F4EA450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04E5-9245-EC39-AC7F-25C905D8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paraphrasing?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BE69-C0B7-730E-1CA0-54D2FF9D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Rearranging words while retaining meaning [4].</a:t>
            </a:r>
          </a:p>
          <a:p>
            <a:r>
              <a:rPr lang="en-US" dirty="0"/>
              <a:t>Try to paraphrase more than directly quoting. </a:t>
            </a:r>
          </a:p>
          <a:p>
            <a:r>
              <a:rPr lang="en-US" dirty="0"/>
              <a:t>Paraphrasing better displays understanding [4].</a:t>
            </a:r>
          </a:p>
          <a:p>
            <a:endParaRPr lang="en-US" dirty="0"/>
          </a:p>
          <a:p>
            <a:r>
              <a:rPr lang="en-US" dirty="0"/>
              <a:t>When to Paraphrase:</a:t>
            </a:r>
          </a:p>
          <a:p>
            <a:pPr lvl="1"/>
            <a:r>
              <a:rPr lang="en-US" dirty="0"/>
              <a:t>Main idea is more important than exact words [5].</a:t>
            </a:r>
          </a:p>
          <a:p>
            <a:pPr lvl="1"/>
            <a:r>
              <a:rPr lang="en-US" dirty="0"/>
              <a:t>Only a small part of a source is useful.[5].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8042-1F90-C72A-1856-AC55F014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8326-53E3-40E3-A5BD-DF3E18F2DF62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AC4F-3391-77F8-5D3E-7D436FF2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1BF0-DAFE-1D78-59FE-9298A00E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9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E0E6-2DE1-41AE-D4CA-EA93161E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paraphrase? [4]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63CD5-FF69-F0D9-9C05-1E12D7D58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Read and understand original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main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Rewrite text without looking at original.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rewritten text to differ from original.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Cite information source.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Your writing is good enough.</a:t>
            </a:r>
          </a:p>
          <a:p>
            <a:r>
              <a:rPr lang="en-US" dirty="0"/>
              <a:t>Paraphrasing helps you improve.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F8232-9F60-9CBC-4623-8DC04F24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FC30B-008D-4643-B09E-87FB94064E23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3082-BEFC-D109-123F-27CEB95F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933AF-EEC4-09F4-6D12-8DE60F4A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5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45B-CA80-9A4A-2A6B-6BFCB2FC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Direct Quote?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ADF50-0B81-D570-1B0A-8DCF1AA8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author’s exact words or your exact words [6].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algn="just"/>
            <a:r>
              <a:rPr lang="en-US" dirty="0"/>
              <a:t>Ann Marie Sullivan said in an August 2021 interview with CBS that young adults with autism do receive insufficient support after graduating from school programs [3]. According to her, "What happens is that when they're 21 and they leave the school programs there is really a drop off and they're not having that opportunity to work inside of companies, real companies."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BD025-F294-067C-C285-B5641E6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0BF6-022D-40CF-B753-4C393C84CAAA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1883-B3B8-2957-8DB3-D470BE8E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E8A6A-6BF2-FBD8-AB9F-5DF1EE36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31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6E9D-8E08-90E4-AC6C-E8D4761A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directly quote [6]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B9F5-AAF9-EA03-0D4A-C2838C92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Paraphrasing is preferred.</a:t>
            </a:r>
          </a:p>
          <a:p>
            <a:endParaRPr lang="en-US" dirty="0"/>
          </a:p>
          <a:p>
            <a:r>
              <a:rPr lang="en-US" dirty="0"/>
              <a:t>Quotes are still useful though.</a:t>
            </a:r>
          </a:p>
          <a:p>
            <a:r>
              <a:rPr lang="en-US" dirty="0"/>
              <a:t>Cases for using direct quotes:</a:t>
            </a:r>
          </a:p>
          <a:p>
            <a:pPr lvl="1"/>
            <a:r>
              <a:rPr lang="en-US" dirty="0"/>
              <a:t>Specific definition</a:t>
            </a:r>
          </a:p>
          <a:p>
            <a:pPr lvl="1"/>
            <a:r>
              <a:rPr lang="en-US" dirty="0"/>
              <a:t>Particularly well stated points.</a:t>
            </a:r>
          </a:p>
          <a:p>
            <a:pPr lvl="1"/>
            <a:r>
              <a:rPr lang="en-US" dirty="0"/>
              <a:t>Writing about exact statement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DBEDF-30E1-5972-1BE1-986414F9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5319-33C3-4309-B5DB-7E7C7D85D509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546C-7C74-4F8B-64BD-384CBEF8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778F-D868-9AF9-116F-9A005BC7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90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2446-C325-1B5D-06DD-4635B17A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Scribbr</a:t>
            </a:r>
            <a:r>
              <a:rPr lang="en-US" dirty="0"/>
              <a:t> Advise </a:t>
            </a:r>
            <a:r>
              <a:rPr lang="en-US"/>
              <a:t>on Paraphrasing</a:t>
            </a:r>
            <a:endParaRPr lang="en-US" dirty="0"/>
          </a:p>
        </p:txBody>
      </p:sp>
      <p:pic>
        <p:nvPicPr>
          <p:cNvPr id="7" name="Online Media 6" title="How to Paraphrase in 5 Easy Steps | Scribbr 🎓">
            <a:hlinkClick r:id="" action="ppaction://media"/>
            <a:extLst>
              <a:ext uri="{FF2B5EF4-FFF2-40B4-BE49-F238E27FC236}">
                <a16:creationId xmlns:a16="http://schemas.microsoft.com/office/drawing/2014/main" id="{DE193D7A-3812-4340-2BC5-47FCB2AF513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6447" y="1943100"/>
            <a:ext cx="7004050" cy="39571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3AA85-E840-E9CC-A7BC-0A38B377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39E0-B17E-4827-BE4A-EE15A469FEC9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AF83-291F-62A5-8578-FF64534C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7166-CAE3-14F6-5261-3ED7B940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423B-2D3A-4AF4-20F0-3B65353D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0B32-B67F-068D-089F-805096EF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cite resources.</a:t>
            </a:r>
          </a:p>
          <a:p>
            <a:r>
              <a:rPr lang="en-US" dirty="0"/>
              <a:t>Generally, paraphrase other people’s words and ideas.</a:t>
            </a:r>
          </a:p>
          <a:p>
            <a:r>
              <a:rPr lang="en-US" dirty="0"/>
              <a:t>Use direct quotations minimally.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11EA-A048-6DF5-E8CA-75C9E721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3F56-EE44-4955-9EAF-7EE59F9F0990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18D36-0E18-575A-AD0D-BDBBD068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5E93-A369-4B72-FD21-BED278D0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1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0AC2-B777-A8AC-AA47-B216E419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D4B9-68AB-9871-34AB-EB3A5244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[1] </a:t>
            </a:r>
            <a:r>
              <a:rPr lang="en-US" dirty="0">
                <a:hlinkClick r:id="rId2"/>
              </a:rPr>
              <a:t>https://www.plagiarism.org/article/what-is-citation</a:t>
            </a:r>
            <a:endParaRPr lang="en-US" dirty="0"/>
          </a:p>
          <a:p>
            <a:r>
              <a:rPr lang="en-US" dirty="0"/>
              <a:t>[2] </a:t>
            </a:r>
            <a:r>
              <a:rPr lang="en-US" dirty="0">
                <a:hlinkClick r:id="rId3"/>
              </a:rPr>
              <a:t>https://www.usm.edu/speaking-center/citingsourcesinaspeech.pdf</a:t>
            </a:r>
            <a:endParaRPr lang="en-US" dirty="0"/>
          </a:p>
          <a:p>
            <a:r>
              <a:rPr lang="en-US" dirty="0"/>
              <a:t>[3] </a:t>
            </a:r>
            <a:r>
              <a:rPr lang="en-US" dirty="0">
                <a:hlinkClick r:id="rId4"/>
              </a:rPr>
              <a:t>https://www.cbsnews.com/newyork/news/autism-spectrum-works-nonprofit-pop-up-stores-american-dream/</a:t>
            </a:r>
            <a:endParaRPr lang="en-US" dirty="0"/>
          </a:p>
          <a:p>
            <a:r>
              <a:rPr lang="en-US" dirty="0"/>
              <a:t>[4] </a:t>
            </a:r>
            <a:r>
              <a:rPr lang="en-US" dirty="0">
                <a:hlinkClick r:id="rId5"/>
              </a:rPr>
              <a:t>https://lo.unisa.edu.au/mod/book/view.php?id=252144</a:t>
            </a:r>
            <a:endParaRPr lang="en-US" dirty="0"/>
          </a:p>
          <a:p>
            <a:r>
              <a:rPr lang="en-US" dirty="0"/>
              <a:t>[5] </a:t>
            </a:r>
            <a:r>
              <a:rPr lang="en-US" dirty="0">
                <a:hlinkClick r:id="rId6"/>
              </a:rPr>
              <a:t>https://www.monash.edu/learnhq/write-like-a-pro/acknowledge-sources/paraphrase-summarise-and-quote-well/paraphrase</a:t>
            </a:r>
            <a:endParaRPr lang="en-US" dirty="0"/>
          </a:p>
          <a:p>
            <a:r>
              <a:rPr lang="en-US" dirty="0"/>
              <a:t>[6] </a:t>
            </a:r>
            <a:r>
              <a:rPr lang="en-US" dirty="0">
                <a:hlinkClick r:id="rId7"/>
              </a:rPr>
              <a:t>https://apastyle.apa.org/style-grammar-guidelines/citations/quotations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80C2-2347-824E-1751-57B592C8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ADB09-3B6C-4031-97E6-2B2CAC5AD84D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1AB6-866C-D606-C3CF-A9E23D0F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7574D-1FBE-EFAC-3DAD-4E428BF4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71622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</TotalTime>
  <Words>766</Words>
  <Application>Microsoft Office PowerPoint</Application>
  <PresentationFormat>Widescreen</PresentationFormat>
  <Paragraphs>109</Paragraphs>
  <Slides>10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Paraphrasing and Citing</vt:lpstr>
      <vt:lpstr>What is citing [1]?</vt:lpstr>
      <vt:lpstr>Citing while speaking</vt:lpstr>
      <vt:lpstr>What is paraphrasing?</vt:lpstr>
      <vt:lpstr>How to paraphrase? [4]</vt:lpstr>
      <vt:lpstr>What is a Direct Quote?</vt:lpstr>
      <vt:lpstr>When to directly quote [6]</vt:lpstr>
      <vt:lpstr>Scribbr Advise on Paraphrasing</vt:lpstr>
      <vt:lpstr>Conclusion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Paraphrasing and Citing</dc:title>
  <dc:creator>CJ  Conti</dc:creator>
  <cp:lastModifiedBy>CJ  Conti</cp:lastModifiedBy>
  <cp:revision>115</cp:revision>
  <dcterms:created xsi:type="dcterms:W3CDTF">2022-12-06T18:52:20Z</dcterms:created>
  <dcterms:modified xsi:type="dcterms:W3CDTF">2023-01-05T18:35:50Z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